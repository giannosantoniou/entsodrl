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7373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Battery</a:t>
            </a:r>
            <a:endParaRPr lang="en-US" sz="4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System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CD4"/>
                </a:solidFill>
              </a:rPr>
              <a:t>Energy Management System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200400" y="3611880"/>
            <a:ext cx="2743200" cy="27432"/>
          </a:xfrm>
          <a:prstGeom prst="rect">
            <a:avLst/>
          </a:prstGeom>
          <a:solidFill>
            <a:srgbClr val="00BCD4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EC5"/>
                </a:solidFill>
              </a:rPr>
              <a:t>Battery Energy Storage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1965960" cy="3200400"/>
          </a:xfrm>
          <a:prstGeom prst="rect">
            <a:avLst/>
          </a:prstGeom>
          <a:solidFill>
            <a:srgbClr val="1A29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463040"/>
            <a:ext cx="54864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1945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60-70%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594360" y="278892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 without smart EMS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most potential value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2606040" y="1188720"/>
            <a:ext cx="1965960" cy="3200400"/>
          </a:xfrm>
          <a:prstGeom prst="rect">
            <a:avLst/>
          </a:prstGeom>
          <a:solidFill>
            <a:srgbClr val="1A29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46304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606040" y="21945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96/day</a:t>
            </a:r>
            <a:endParaRPr lang="en-US" sz="2800" dirty="0"/>
          </a:p>
        </p:txBody>
      </p:sp>
      <p:sp>
        <p:nvSpPr>
          <p:cNvPr id="12" name="Text 7"/>
          <p:cNvSpPr/>
          <p:nvPr/>
        </p:nvSpPr>
        <p:spPr>
          <a:xfrm>
            <a:off x="2743200" y="278892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required across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markets simultaneously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754880" y="1188720"/>
            <a:ext cx="1965960" cy="3200400"/>
          </a:xfrm>
          <a:prstGeom prst="rect">
            <a:avLst/>
          </a:prstGeom>
          <a:solidFill>
            <a:srgbClr val="1A29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1463040"/>
            <a:ext cx="548640" cy="5486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754880" y="21945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Markets</a:t>
            </a:r>
            <a:endParaRPr lang="en-US" sz="2800" dirty="0"/>
          </a:p>
        </p:txBody>
      </p:sp>
      <p:sp>
        <p:nvSpPr>
          <p:cNvPr id="16" name="Text 10"/>
          <p:cNvSpPr/>
          <p:nvPr/>
        </p:nvSpPr>
        <p:spPr>
          <a:xfrm>
            <a:off x="4892040" y="278892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DAM, IDA, aFRR, XBID, mFRR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with unique rules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903720" y="1188720"/>
            <a:ext cx="1965960" cy="3200400"/>
          </a:xfrm>
          <a:prstGeom prst="rect">
            <a:avLst/>
          </a:prstGeom>
          <a:solidFill>
            <a:srgbClr val="1A29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1463040"/>
            <a:ext cx="548640" cy="5486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903720" y="21945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</a:t>
            </a:r>
            <a:endParaRPr lang="en-US" sz="2800" dirty="0"/>
          </a:p>
        </p:txBody>
      </p:sp>
      <p:sp>
        <p:nvSpPr>
          <p:cNvPr id="20" name="Text 13"/>
          <p:cNvSpPr/>
          <p:nvPr/>
        </p:nvSpPr>
        <p:spPr>
          <a:xfrm>
            <a:off x="7040880" y="278892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trading cannot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all markets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Human Traders Can't Keep 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3840480"/>
          </a:xfrm>
          <a:prstGeom prst="rect">
            <a:avLst/>
          </a:prstGeom>
          <a:solidFill>
            <a:srgbClr val="1A29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3931920" cy="4114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Trader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18562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15087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simultaneous factors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can process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26334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22860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monitor effectively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any given time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063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" y="34107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0" y="30632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decision time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cognitive load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840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8h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" y="4187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800" y="3840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sustained focus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fatigue errors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914400"/>
            <a:ext cx="3931920" cy="3840480"/>
          </a:xfrm>
          <a:prstGeom prst="rect">
            <a:avLst/>
          </a:prstGeom>
          <a:solidFill>
            <a:srgbClr val="1A29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914400"/>
            <a:ext cx="3931920" cy="4114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9144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Trading Agent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1508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131+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937760" y="18562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0" y="15087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all market signals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simultaneously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2286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937760" y="26334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0" y="22860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all markets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decision cycle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3063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ms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937760" y="34107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26480" y="30632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response to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changes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3840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937760" y="4187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26480" y="3840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fatigue, no emotions,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missed opportunities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8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Complexity Problem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15 minutes, the trading decision depends on: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65760" y="1371600"/>
            <a:ext cx="2011680" cy="2743200"/>
          </a:xfrm>
          <a:prstGeom prst="rect">
            <a:avLst/>
          </a:prstGeom>
          <a:solidFill>
            <a:srgbClr val="1A29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371600"/>
            <a:ext cx="20116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508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65760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Signals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33172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 price, XBID bid/ask, ISP1/2/3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aFRR capacity price, mFRR price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price, settlement price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60320" y="1371600"/>
            <a:ext cx="2011680" cy="2743200"/>
          </a:xfrm>
          <a:prstGeom prst="rect">
            <a:avLst/>
          </a:prstGeom>
          <a:solidFill>
            <a:srgbClr val="1A29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60320" y="1371600"/>
            <a:ext cx="201168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3" name="Text 10"/>
          <p:cNvSpPr/>
          <p:nvPr/>
        </p:nvSpPr>
        <p:spPr>
          <a:xfrm>
            <a:off x="2560320" y="1508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560320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State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651760" y="233172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SoC, available capacity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 schedule status, IDA positions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today, delivery obligations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54880" y="1371600"/>
            <a:ext cx="2011680" cy="2743200"/>
          </a:xfrm>
          <a:prstGeom prst="rect">
            <a:avLst/>
          </a:prstGeom>
          <a:solidFill>
            <a:srgbClr val="1A29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54880" y="1371600"/>
            <a:ext cx="2011680" cy="36576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1508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54880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Data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846320" y="233172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Serbia D+1 (24h hourly prices)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 countries (BG, RO, HU, IT)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wind, solar, gas prices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949440" y="1371600"/>
            <a:ext cx="2011680" cy="2743200"/>
          </a:xfrm>
          <a:prstGeom prst="rect">
            <a:avLst/>
          </a:prstGeom>
          <a:solidFill>
            <a:srgbClr val="1A29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949440" y="1371600"/>
            <a:ext cx="2011680" cy="36576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23" name="Text 20"/>
          <p:cNvSpPr/>
          <p:nvPr/>
        </p:nvSpPr>
        <p:spPr>
          <a:xfrm>
            <a:off x="6949440" y="1508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949440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Context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040880" y="233172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of day, day of week, season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to next gate closure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Peak/off-peak indicators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1371600" y="4343400"/>
            <a:ext cx="6400800" cy="594360"/>
          </a:xfrm>
          <a:prstGeom prst="rect">
            <a:avLst/>
          </a:prstGeom>
          <a:solidFill>
            <a:srgbClr val="0D47A1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1463040" y="4370832"/>
            <a:ext cx="6217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800"/>
                </a:solidFill>
              </a:rPr>
              <a:t>85+ variables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updated every 15 minutes across </a:t>
            </a:r>
            <a:pPr algn="ctr" indent="0" marL="0">
              <a:buNone/>
            </a:pPr>
            <a:r>
              <a:rPr lang="en-US" sz="1800" b="1" dirty="0">
                <a:solidFill>
                  <a:srgbClr val="FF9800"/>
                </a:solidFill>
              </a:rPr>
              <a:t>5 markets </a:t>
            </a:r>
            <a:pPr algn="ctr" indent="0" marL="0">
              <a:buNone/>
            </a:pPr>
            <a:r>
              <a:rPr lang="en-US" sz="1400" dirty="0">
                <a:solidFill>
                  <a:srgbClr val="B0BEC5"/>
                </a:solidFill>
              </a:rPr>
              <a:t>= impossible for humans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2-Layer AI Architecture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1A29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AI Price Forecasting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60020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LightGBM Machine Learning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1 model per market (DAM, IDA1, IDA2)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24h price prediction with 45 features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Information cascade architecture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LP Optimizer converts to schedule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4CAF50"/>
                </a:solidFill>
              </a:rPr>
              <a:t>Serbia D+1 correlation: 0.90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1A29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8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AI Trading Agent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83480" y="160020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Reinforcement Learning (PPO)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Real-time aFRR commitment decisions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7 commitment levels (0-30 MW)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Learns WHEN and HOW MUCH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Action masking prevents errors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4CAF50"/>
                </a:solidFill>
              </a:rPr>
              <a:t>SoC-aware: protects battery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Cascade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029200" cy="777240"/>
          </a:xfrm>
          <a:prstGeom prst="rect">
            <a:avLst/>
          </a:prstGeom>
          <a:solidFill>
            <a:srgbClr val="1565C0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5156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 12:00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3120" y="105156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91840" y="105156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prices, neighbors,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forecast, gas prices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5943600" cy="777240"/>
          </a:xfrm>
          <a:prstGeom prst="rect">
            <a:avLst/>
          </a:prstGeom>
          <a:solidFill>
            <a:srgbClr val="1976D2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01168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 15:00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03120" y="201168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201168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DAM actual results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Serbia D+1 hourly (corr 0.90)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6858000" cy="777240"/>
          </a:xfrm>
          <a:prstGeom prst="rect">
            <a:avLst/>
          </a:prstGeom>
          <a:solidFill>
            <a:srgbClr val="1E88E5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97180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 22:00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03120" y="297180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29718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ISP1 clearing prices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evening load/RES actuals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7772400" cy="777240"/>
          </a:xfrm>
          <a:prstGeom prst="rect">
            <a:avLst/>
          </a:prstGeom>
          <a:solidFill>
            <a:srgbClr val="2196F3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93192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03120" y="393192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91840" y="393192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current SoC, live prices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locked schedules, imbalance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8229600" cy="36576"/>
          </a:xfrm>
          <a:prstGeom prst="rect">
            <a:avLst/>
          </a:prstGeom>
          <a:solidFill>
            <a:srgbClr val="00BCD4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later market improves decisions with new data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Results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0" y="320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30MW / 146MWh BESS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920240"/>
                <a:gridCol w="1920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BCD4"/>
                          </a:solidFill>
                        </a:rPr>
                        <a:t>Component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BCD4"/>
                          </a:solidFill>
                        </a:rPr>
                        <a:t>EUR/day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BCD4"/>
                          </a:solidFill>
                        </a:rPr>
                        <a:t>EUR/year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DAM Arbitrage (AI Forecasting)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6,583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2.40M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aFRR Capacity (AI Agent)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9,500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3.47M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4CAF50"/>
                          </a:solidFill>
                        </a:rPr>
                        <a:t>TOTAL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4CAF50"/>
                          </a:solidFill>
                        </a:rPr>
                        <a:t>~16,000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4CAF50"/>
                          </a:solidFill>
                        </a:rPr>
                        <a:t>~5.8M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2286000" y="3200400"/>
            <a:ext cx="4572000" cy="1188720"/>
          </a:xfrm>
          <a:prstGeom prst="rect">
            <a:avLst/>
          </a:prstGeom>
          <a:solidFill>
            <a:srgbClr val="1A29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2286000" y="32004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94-98%</a:t>
            </a:r>
            <a:endParaRPr lang="en-US" sz="4800" dirty="0"/>
          </a:p>
        </p:txBody>
      </p:sp>
      <p:sp>
        <p:nvSpPr>
          <p:cNvPr id="9" name="Text 5"/>
          <p:cNvSpPr/>
          <p:nvPr/>
        </p:nvSpPr>
        <p:spPr>
          <a:xfrm>
            <a:off x="228600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Ratio vs Oracle (theoretical maximum)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Backtested 2023-2026 | Greek Market (HEnEx)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MW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BESS earns with AI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914400"/>
            <a:ext cx="6400800" cy="1645920"/>
          </a:xfrm>
          <a:prstGeom prst="rect">
            <a:avLst/>
          </a:prstGeom>
          <a:solidFill>
            <a:srgbClr val="1A29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9601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195,676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/ MW / year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1945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536 EUR/MW/day  |  40 EUR/kWh/year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834640"/>
          <a:ext cx="73152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1645920"/>
                <a:gridCol w="1737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CD4"/>
                          </a:solidFill>
                        </a:rPr>
                        <a:t>BESS Size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BCD4"/>
                          </a:solidFill>
                        </a:rPr>
                        <a:t>EUR/day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BCD4"/>
                          </a:solidFill>
                        </a:rPr>
                        <a:t>EUR/year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BCD4"/>
                          </a:solidFill>
                        </a:rPr>
                        <a:t>Payback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5 MW / 20 MWh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2,680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978K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</a:rPr>
                        <a:t>1.2 yr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10 MW / 40 MWh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5,361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1.96M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</a:rPr>
                        <a:t>1.1 yr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30 MW / 146 MWh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4CAF50"/>
                          </a:solidFill>
                        </a:rPr>
                        <a:t>16,083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4CAF50"/>
                          </a:solidFill>
                        </a:rPr>
                        <a:t>5.87M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CAF50"/>
                          </a:solidFill>
                        </a:rPr>
                        <a:t>0.9 yr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50 MW / 200 MWh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26,805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9.78M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</a:rPr>
                        <a:t>0.8 yr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scaling: double the MW = double the revenue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3840480"/>
          </a:xfrm>
          <a:prstGeom prst="rect">
            <a:avLst/>
          </a:prstGeom>
          <a:solidFill>
            <a:srgbClr val="1A29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393192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Cyprus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34747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BCD4"/>
                </a:solidFill>
              </a:rPr>
              <a:t>Research Platform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0BEC5"/>
                </a:solidFill>
              </a:rPr>
              <a:t>DRL + energy markets = high-impact publications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BCD4"/>
                </a:solidFill>
              </a:rPr>
              <a:t>Student Projects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0BEC5"/>
                </a:solidFill>
              </a:rPr>
              <a:t>BSc/MSc theses on AI trading optimization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BCD4"/>
                </a:solidFill>
              </a:rPr>
              <a:t>Green Campus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0BEC5"/>
                </a:solidFill>
              </a:rPr>
              <a:t>PV + BESS + AI for net-zero campus goal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BCD4"/>
                </a:solidFill>
              </a:rPr>
              <a:t>EU Funding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0BEC5"/>
                </a:solidFill>
              </a:rPr>
              <a:t>Horizon Europe: AI + Energy = strong proposal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BCD4"/>
                </a:solidFill>
              </a:rPr>
              <a:t>Lab Infrastructure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0BEC5"/>
                </a:solidFill>
              </a:rPr>
              <a:t>Real-world testbed for power systems research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3840480"/>
          </a:xfrm>
          <a:prstGeom prst="rect">
            <a:avLst/>
          </a:prstGeom>
          <a:solidFill>
            <a:srgbClr val="1A29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3931920" cy="4572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914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508760"/>
            <a:ext cx="34747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9800"/>
                </a:solidFill>
              </a:rPr>
              <a:t>Data Center Power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0BEC5"/>
                </a:solidFill>
              </a:rPr>
              <a:t>BESS as UPS + revenue generation asset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9800"/>
                </a:solidFill>
              </a:rPr>
              <a:t>Peak Shaving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0BEC5"/>
                </a:solidFill>
              </a:rPr>
              <a:t>Reduce demand charges by 30-50%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9800"/>
                </a:solidFill>
              </a:rPr>
              <a:t>Energy Arbitrage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0BEC5"/>
                </a:solidFill>
              </a:rPr>
              <a:t>AI buys cheap (night), sells expensive (peak)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9800"/>
                </a:solidFill>
              </a:rPr>
              <a:t>Grid Services Revenue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0BEC5"/>
                </a:solidFill>
              </a:rPr>
              <a:t>aFRR capacity payments from TSO: ~317 EUR/MW/day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9800"/>
                </a:solidFill>
              </a:rPr>
              <a:t>Reliability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0BEC5"/>
                </a:solidFill>
              </a:rPr>
              <a:t>99.999% uptime with AI + rule-based fallback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&amp; Safety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54864" cy="6583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1440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Failure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34640" y="914400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fallback to rule-based EMS. Battery continues normal operation.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8229600" cy="658368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19072"/>
            <a:ext cx="54864" cy="6583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1907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Protection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34640" y="1719072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masking prevents physically impossible actions. SoC always 5-95%.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8229600" cy="658368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23744"/>
            <a:ext cx="54864" cy="6583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2374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Anomaly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34640" y="2523744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trained on 4+ years including 2022 energy crisis. Adapts to extremes.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28416"/>
            <a:ext cx="8229600" cy="658368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328416"/>
            <a:ext cx="54864" cy="6583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2841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Loss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834640" y="3328416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EMS operates autonomously. AI reconnects and resumes when available.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133088"/>
            <a:ext cx="8229600" cy="658368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133088"/>
            <a:ext cx="54864" cy="6583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13308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Override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834640" y="4133088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control ALWAYS available. AI is advisory, operator has final say.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371600" y="4663440"/>
            <a:ext cx="6400800" cy="36576"/>
          </a:xfrm>
          <a:prstGeom prst="rect">
            <a:avLst/>
          </a:prstGeom>
          <a:solidFill>
            <a:srgbClr val="4CAF50">
              <a:alpha val="50000"/>
            </a:srgbClr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Future-Proof: Dynamic Capacity Allocation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more BESS enter the market?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188720"/>
                <a:gridCol w="1188720"/>
                <a:gridCol w="1188720"/>
                <a:gridCol w="1005840"/>
                <a:gridCol w="1097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BCD4"/>
                          </a:solidFill>
                        </a:rPr>
                        <a:t>aFRR Price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BCD4"/>
                          </a:solidFill>
                        </a:rPr>
                        <a:t>Decline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BCD4"/>
                          </a:solidFill>
                        </a:rPr>
                        <a:t>aFRR</a:t>
                      </a:r>
                      <a:endParaRPr lang="en-US" sz="1100" dirty="0"/>
                    </a:p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BCD4"/>
                          </a:solidFill>
                        </a:rPr>
                        <a:t>EUR/day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BCD4"/>
                          </a:solidFill>
                        </a:rPr>
                        <a:t>DAM</a:t>
                      </a:r>
                      <a:endParaRPr lang="en-US" sz="1100" dirty="0"/>
                    </a:p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BCD4"/>
                          </a:solidFill>
                        </a:rPr>
                        <a:t>EUR/day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BCD4"/>
                          </a:solidFill>
                        </a:rPr>
                        <a:t>Total</a:t>
                      </a:r>
                      <a:endParaRPr lang="en-US" sz="1100" dirty="0"/>
                    </a:p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BCD4"/>
                          </a:solidFill>
                        </a:rPr>
                        <a:t>EUR/day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CD4"/>
                          </a:solidFill>
                        </a:rPr>
                        <a:t>aFRR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CD4"/>
                          </a:solidFill>
                        </a:rPr>
                        <a:t>Allocation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BCD4"/>
                          </a:solidFill>
                        </a:rPr>
                        <a:t>Annual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AF50"/>
                          </a:solidFill>
                        </a:rPr>
                        <a:t>0% (today)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8,588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2,871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</a:rPr>
                        <a:t>11,459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58%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CAF50"/>
                          </a:solidFill>
                        </a:rPr>
                        <a:t>4.18M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30%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5,556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3,251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8,807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52%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3.21M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9800"/>
                          </a:solidFill>
                        </a:rPr>
                        <a:t>50% (BESS flood)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3,772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3,455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9800"/>
                          </a:solidFill>
                        </a:rPr>
                        <a:t>7,227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49%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9800"/>
                          </a:solidFill>
                        </a:rPr>
                        <a:t>2.64M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80% (extreme)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1,311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3,977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5,289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41%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1.93M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520440"/>
            <a:ext cx="8229600" cy="1371600"/>
          </a:xfrm>
          <a:prstGeom prst="rect">
            <a:avLst/>
          </a:prstGeom>
          <a:solidFill>
            <a:srgbClr val="1A29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520440"/>
            <a:ext cx="54864" cy="13716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56616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4CAF50"/>
                </a:solidFill>
              </a:rPr>
              <a:t>AI Auto-Adaptation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As aFRR prices decline, the AI automatically shifts capacity to DAM arbitrage.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Even with 80% aFRR price collapse, the system still earns 1.93M EUR/year.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9800"/>
                </a:solidFill>
              </a:rPr>
              <a:t>Greece plans 4.7 GW BESS (vs 600 MW aFRR demand). Rule-based systems will fail.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4CAF50"/>
                </a:solidFill>
              </a:rPr>
              <a:t>AI adapts. Rules don't.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vs Rule-Based EMS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CD4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6B6B"/>
                          </a:solidFill>
                        </a:rPr>
                        <a:t>Rule-Based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</a:rPr>
                        <a:t>AI-Powered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DAM Trading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</a:rPr>
                        <a:t>Fixed schedule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CAF50"/>
                          </a:solidFill>
                        </a:rPr>
                        <a:t>Adapts to forecast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aFRR Commitment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</a:rPr>
                        <a:t>Always 15MW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CAF50"/>
                          </a:solidFill>
                        </a:rPr>
                        <a:t>Learns WHEN &amp; HOW MUCH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New Market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</a:rPr>
                        <a:t>Rewrite rules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CAF50"/>
                          </a:solidFill>
                        </a:rPr>
                        <a:t>Learns automatically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Crisis Response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Fails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CAF50"/>
                          </a:solidFill>
                        </a:rPr>
                        <a:t>Adapts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SoC Management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</a:rPr>
                        <a:t>Hard thresholds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CAF50"/>
                          </a:solidFill>
                        </a:rPr>
                        <a:t>Learned optimal behavior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1645920"/>
          </a:xfrm>
          <a:prstGeom prst="rect">
            <a:avLst/>
          </a:prstGeom>
          <a:solidFill>
            <a:srgbClr val="1A29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1155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SoC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55448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state of charge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color-coded gauge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(green/yellow/red)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1005840"/>
            <a:ext cx="5394960" cy="1645920"/>
          </a:xfrm>
          <a:prstGeom prst="rect">
            <a:avLst/>
          </a:prstGeom>
          <a:solidFill>
            <a:srgbClr val="1A29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14300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86200" y="111556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 Price Chart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474720" y="155448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scrolling price chart with historical context,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position cursor, and daily mean reference line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2880360"/>
            <a:ext cx="4023360" cy="1920240"/>
          </a:xfrm>
          <a:prstGeom prst="rect">
            <a:avLst/>
          </a:prstGeom>
          <a:solidFill>
            <a:srgbClr val="1A29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1752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299008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Tracker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40080" y="342900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Per-market revenue breakdown: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DAM, aFRR capacity, aFRR energy,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XBID, mFRR — with running totals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EUR/day + EUR/year projection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54880" y="2880360"/>
            <a:ext cx="3931920" cy="1920240"/>
          </a:xfrm>
          <a:prstGeom prst="rect">
            <a:avLst/>
          </a:prstGeom>
          <a:solidFill>
            <a:srgbClr val="1A29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01752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49240" y="299008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Decisions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937760" y="34290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action display: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aFRR commitment level (0-30 MW)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trajectory projection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ratio + daily cycles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Cyprus Market Application</a:t>
            </a:r>
            <a:endParaRPr lang="en-US" sz="2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0" y="10058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Market-Agnostic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3657600" y="10058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architecture, different data. Change the market feed, not the code.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40080" y="1691640"/>
            <a:ext cx="786384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7452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280" y="17830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Cyprus Markets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3657600" y="17830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DAM, Balancing Market, Ancillary Services — all supported.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640080" y="2468880"/>
            <a:ext cx="786384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65176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25603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 Integration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3657600" y="256032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Forecasters retrained with Cyprus-specific weather, load, and price data.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640080" y="3246120"/>
            <a:ext cx="786384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429000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97280" y="33375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EuroAsia Interconnector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3657600" y="333756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Israel-Cyprus-Greece cable: new cross-border arbitrage opportunities.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640080" y="4023360"/>
            <a:ext cx="786384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206240"/>
            <a:ext cx="274320" cy="27432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97280" y="41148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Potential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3657600" y="41148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20-40 EUR/kWh/year depending on BESS size and local spreads.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594360" cy="59436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Architecture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931920" y="96012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lock-in. Full transparency and control.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594360" cy="59436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6479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176479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Results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31920" y="1764792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Backtested 2023-2026 on Greek market (HEnEx). 94% capture ratio.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69464"/>
            <a:ext cx="594360" cy="59436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5694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256946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Multi-Market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31920" y="2569464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 + aFRR + IDA + XBID optimized simultaneously.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74136"/>
            <a:ext cx="594360" cy="59436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37413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37413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931920" y="3374136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improves with every new data point. No manual rule updates.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178808"/>
            <a:ext cx="594360" cy="59436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1788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417880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931920" y="417880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scaling with BESS size. 60MW = 2x revenue.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097280"/>
            <a:ext cx="2560320" cy="2560320"/>
          </a:xfrm>
          <a:prstGeom prst="rect">
            <a:avLst/>
          </a:prstGeom>
          <a:solidFill>
            <a:srgbClr val="1A29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097280"/>
            <a:ext cx="256032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280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40080" y="18288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Project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23317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proof of concept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real market data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simulated trading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74720" y="1097280"/>
            <a:ext cx="2560320" cy="2560320"/>
          </a:xfrm>
          <a:prstGeom prst="rect">
            <a:avLst/>
          </a:prstGeom>
          <a:solidFill>
            <a:srgbClr val="1A29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0" y="1097280"/>
            <a:ext cx="256032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3" name="Text 10"/>
          <p:cNvSpPr/>
          <p:nvPr/>
        </p:nvSpPr>
        <p:spPr>
          <a:xfrm>
            <a:off x="3474720" y="1280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3474720" y="18288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Adaptation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657600" y="23317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weeks to retrain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forecasters with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Cyprus market data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09360" y="1097280"/>
            <a:ext cx="2560320" cy="2560320"/>
          </a:xfrm>
          <a:prstGeom prst="rect">
            <a:avLst/>
          </a:prstGeom>
          <a:solidFill>
            <a:srgbClr val="1A29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09360" y="1097280"/>
            <a:ext cx="2560320" cy="54864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8" name="Text 15"/>
          <p:cNvSpPr/>
          <p:nvPr/>
        </p:nvSpPr>
        <p:spPr>
          <a:xfrm>
            <a:off x="6309360" y="1280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6309360" y="18288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23317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integration with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and real-time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connection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39776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Requirements:  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BESS specifications (MW/MWh)  |  Local market data (DAM prices, ancillary)  |  Regulatory framework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22960" y="43434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Contact:  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[Your Name]  |  [email]  |  [phone]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Battery Trading System</dc:title>
  <dc:subject>PptxGenJS Presentation</dc:subject>
  <dc:creator>EntsoDRL</dc:creator>
  <cp:lastModifiedBy>EntsoDRL</cp:lastModifiedBy>
  <cp:revision>1</cp:revision>
  <dcterms:created xsi:type="dcterms:W3CDTF">2026-04-07T19:28:54Z</dcterms:created>
  <dcterms:modified xsi:type="dcterms:W3CDTF">2026-04-07T19:28:54Z</dcterms:modified>
</cp:coreProperties>
</file>